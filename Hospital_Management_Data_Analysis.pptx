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8" r:id="rId5"/>
    <p:sldId id="260" r:id="rId6"/>
    <p:sldId id="271" r:id="rId7"/>
    <p:sldId id="269" r:id="rId8"/>
    <p:sldId id="261" r:id="rId9"/>
    <p:sldId id="270" r:id="rId10"/>
    <p:sldId id="263" r:id="rId11"/>
    <p:sldId id="272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56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F180-496A-405F-859F-C13B3970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6ACA-39AC-46C5-8152-02CF14AB8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1CB04-9840-4FBD-9680-EE57D288C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47D3A-8DEC-4FB2-A6FA-1423BE40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1AA18-1EFC-4C1A-BFC6-53644CEDE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EFE0B-E05D-44DB-9533-57223EB3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6917-1619-42B5-9738-1F3E7B27D25D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57B81-E23F-4C33-859B-96E5B535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CF786-5F7E-4C06-9760-A0BACF29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C341-89BB-4110-901D-A7A49D83D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4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097A7-37C7-4473-9424-3E3815080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6917-1619-42B5-9738-1F3E7B27D25D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FE646-24A9-49F4-8F7D-803D333D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F6F37-101F-496F-B3EA-57EAF991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BC341-89BB-4110-901D-A7A49D83D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5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localhost:8888/notebooks/Hospital%20Management%20(Toyyib%20Oluwadamilare%2C%20Uthman).ipynb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000"/>
                    </a14:imgEffect>
                    <a14:imgEffect>
                      <a14:saturation sat="56000"/>
                    </a14:imgEffect>
                    <a14:imgEffect>
                      <a14:brightnessContrast bright="1000" contrast="-2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86300" y="0"/>
            <a:ext cx="4457700" cy="514350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0" y="150979"/>
            <a:ext cx="4504765" cy="186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Management Data Analysis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15428" y="2401650"/>
            <a:ext cx="418384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Arial" pitchFamily="34" charset="0"/>
                <a:cs typeface="Arial" pitchFamily="34" charset="-120"/>
              </a:rPr>
              <a:t>By:</a:t>
            </a:r>
            <a:endParaRPr lang="en-US" sz="2025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872C946-D908-4A60-B450-1B985E40BB31}"/>
              </a:ext>
            </a:extLst>
          </p:cNvPr>
          <p:cNvSpPr/>
          <p:nvPr/>
        </p:nvSpPr>
        <p:spPr>
          <a:xfrm>
            <a:off x="1029773" y="3243715"/>
            <a:ext cx="218970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Toyyib Oluwadamilre, UTHMAN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4746BC0-C81B-4087-A35E-128D3301EF86}"/>
              </a:ext>
            </a:extLst>
          </p:cNvPr>
          <p:cNvSpPr/>
          <p:nvPr/>
        </p:nvSpPr>
        <p:spPr>
          <a:xfrm>
            <a:off x="350899" y="3937484"/>
            <a:ext cx="39658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</a:t>
            </a:r>
          </a:p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Hospital Management (Toyyib Oluwadamilare, Uthman) - Jupyter Notebook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25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BC5F0A-F7FD-45F6-BDC6-38859F72A744}"/>
              </a:ext>
            </a:extLst>
          </p:cNvPr>
          <p:cNvGrpSpPr/>
          <p:nvPr/>
        </p:nvGrpSpPr>
        <p:grpSpPr>
          <a:xfrm>
            <a:off x="248770" y="2009762"/>
            <a:ext cx="5777484" cy="2310909"/>
            <a:chOff x="342900" y="1705091"/>
            <a:chExt cx="5777484" cy="2310909"/>
          </a:xfrm>
        </p:grpSpPr>
        <p:sp>
          <p:nvSpPr>
            <p:cNvPr id="4" name="Text 1"/>
            <p:cNvSpPr/>
            <p:nvPr/>
          </p:nvSpPr>
          <p:spPr>
            <a:xfrm>
              <a:off x="342900" y="1705091"/>
              <a:ext cx="1674626" cy="20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350" b="1" dirty="0">
                  <a:solidFill>
                    <a:srgbClr val="374151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Dataset Overview:</a:t>
              </a:r>
              <a:endParaRPr lang="en-US" sz="13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992712" y="2088794"/>
              <a:ext cx="5127672" cy="184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5 related tables: </a:t>
              </a:r>
              <a:r>
                <a:rPr lang="en-US" sz="1200" dirty="0"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Appointments, Patients, Doctors, Treatments, Billing</a:t>
              </a:r>
              <a:endParaRPr lang="en-US" sz="1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357378" y="2615073"/>
              <a:ext cx="1270669" cy="20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350" b="1" dirty="0">
                  <a:solidFill>
                    <a:srgbClr val="374151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Project Goal:</a:t>
              </a:r>
              <a:endParaRPr lang="en-US" sz="13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992712" y="2869820"/>
              <a:ext cx="2705549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Clean and transform raw hospital data</a:t>
              </a:r>
              <a:endParaRPr lang="en-US" sz="1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992712" y="3165217"/>
              <a:ext cx="2414572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Analyze </a:t>
              </a: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patterns</a:t>
              </a: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 and relationships</a:t>
              </a:r>
              <a:endParaRPr lang="en-US" sz="1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992712" y="3480583"/>
              <a:ext cx="3769302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Uncover actionable insights for hospital management</a:t>
              </a:r>
              <a:endParaRPr lang="en-US" sz="1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992712" y="3831334"/>
              <a:ext cx="2686120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33333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Noto Sans" pitchFamily="34" charset="-120"/>
                </a:rPr>
                <a:t>Provide data-driven recommendations</a:t>
              </a:r>
              <a:endParaRPr lang="en-US" sz="1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977" y="2571750"/>
            <a:ext cx="3299264" cy="23010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58166" y="4879181"/>
            <a:ext cx="57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 </a:t>
            </a:r>
            <a:endParaRPr lang="en-US" sz="732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B33D16E-6608-4BA2-9095-EC0A3685BD98}"/>
              </a:ext>
            </a:extLst>
          </p:cNvPr>
          <p:cNvSpPr/>
          <p:nvPr/>
        </p:nvSpPr>
        <p:spPr>
          <a:xfrm>
            <a:off x="342900" y="745570"/>
            <a:ext cx="7972044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" pitchFamily="34" charset="-120"/>
              </a:rPr>
              <a:t>This project explores hospital management data across patients, doctors, treatments, billing, and appointments. </a:t>
            </a:r>
          </a:p>
          <a:p>
            <a:pPr algn="just"/>
            <a:r>
              <a:rPr lang="en-US" sz="1400" dirty="0">
                <a:solidFill>
                  <a:srgbClr val="333333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" pitchFamily="34" charset="-120"/>
              </a:rPr>
              <a:t>By cleaning, transforming, and analyzing the dataset, we uncover key operational and financial insights that highlight both challenges and opportunities for improved hospital performance.</a:t>
            </a:r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1E5BB185-C6E3-4CEA-9A6F-D41DFF4A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9" y="563181"/>
            <a:ext cx="5270802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Transformation</a:t>
            </a:r>
            <a:endParaRPr lang="en-US" sz="27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4816290-DFB8-41FA-9408-537BA5905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431340"/>
            <a:ext cx="138544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Cleaning:</a:t>
            </a:r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BBE7DFB1-D350-41E2-9165-7857DFBAE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0" y="1431340"/>
            <a:ext cx="211923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</a:t>
            </a:r>
            <a:r>
              <a:rPr lang="en-US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Transformation</a:t>
            </a:r>
            <a:endParaRPr lang="en-US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573E8B4-E975-4BF7-B5A0-B23B455DE8A5}"/>
              </a:ext>
            </a:extLst>
          </p:cNvPr>
          <p:cNvSpPr/>
          <p:nvPr/>
        </p:nvSpPr>
        <p:spPr>
          <a:xfrm>
            <a:off x="1065798" y="2059574"/>
            <a:ext cx="149880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Checked for missing values</a:t>
            </a:r>
            <a:endParaRPr lang="en-US" sz="1046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F69895B-33B4-4753-A413-F22D2833FC7C}"/>
              </a:ext>
            </a:extLst>
          </p:cNvPr>
          <p:cNvSpPr/>
          <p:nvPr/>
        </p:nvSpPr>
        <p:spPr>
          <a:xfrm>
            <a:off x="1065798" y="2571750"/>
            <a:ext cx="192841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Identified and removed duplicates</a:t>
            </a:r>
            <a:endParaRPr lang="en-US" sz="1046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FD87EC6-65DD-4D9E-95E5-EC15BF4C515D}"/>
              </a:ext>
            </a:extLst>
          </p:cNvPr>
          <p:cNvSpPr/>
          <p:nvPr/>
        </p:nvSpPr>
        <p:spPr>
          <a:xfrm>
            <a:off x="1065798" y="3182380"/>
            <a:ext cx="189635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Corrected inconsistent data types</a:t>
            </a:r>
            <a:endParaRPr lang="en-US" sz="1046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FD12D05-28C5-4A03-8FCB-1CA157170CFE}"/>
              </a:ext>
            </a:extLst>
          </p:cNvPr>
          <p:cNvSpPr/>
          <p:nvPr/>
        </p:nvSpPr>
        <p:spPr>
          <a:xfrm>
            <a:off x="1065799" y="3793010"/>
            <a:ext cx="315657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Dropped irrelevant columns: appointment_time, bill_date, amount, etc.</a:t>
            </a:r>
            <a:endParaRPr lang="en-US" sz="1046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4ED841AD-6F6B-498C-AC2C-922CD71C9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5" y="2053994"/>
            <a:ext cx="190167" cy="190167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3D926EB1-2ED4-41F9-9CDA-47EA0123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5" y="2554325"/>
            <a:ext cx="190167" cy="190167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D252B40E-ED58-487D-90BA-2C3E2283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5" y="3149739"/>
            <a:ext cx="190167" cy="190167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6380855B-D27E-4FAD-A7B8-FFD33E51D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02" y="3858867"/>
            <a:ext cx="190167" cy="190167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EC1914FF-4A93-4F23-B159-E31DCBD1789F}"/>
              </a:ext>
            </a:extLst>
          </p:cNvPr>
          <p:cNvSpPr/>
          <p:nvPr/>
        </p:nvSpPr>
        <p:spPr>
          <a:xfrm>
            <a:off x="4834138" y="1953070"/>
            <a:ext cx="3714192" cy="373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Patients: created a full_name column, derived age from date of birth</a:t>
            </a:r>
            <a:endParaRPr lang="en-US" sz="1046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7B5E88B0-7F2C-495D-804C-0878938FF90D}"/>
              </a:ext>
            </a:extLst>
          </p:cNvPr>
          <p:cNvSpPr/>
          <p:nvPr/>
        </p:nvSpPr>
        <p:spPr>
          <a:xfrm>
            <a:off x="4834138" y="2554887"/>
            <a:ext cx="206146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Doctors: created a full_name column</a:t>
            </a:r>
            <a:endParaRPr lang="en-US" sz="1046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2B8B456-68F3-4EC2-AE3A-EEA509ACD5DD}"/>
              </a:ext>
            </a:extLst>
          </p:cNvPr>
          <p:cNvSpPr/>
          <p:nvPr/>
        </p:nvSpPr>
        <p:spPr>
          <a:xfrm>
            <a:off x="4834138" y="3069059"/>
            <a:ext cx="22345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Built new patient &amp; doctor tables</a:t>
            </a:r>
            <a:endParaRPr lang="en-US" sz="1046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C37AE6C9-A0C0-4E98-BF55-01638218EA44}"/>
              </a:ext>
            </a:extLst>
          </p:cNvPr>
          <p:cNvSpPr/>
          <p:nvPr/>
        </p:nvSpPr>
        <p:spPr>
          <a:xfrm>
            <a:off x="4834138" y="3776146"/>
            <a:ext cx="319959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Merged all tables into one hospital dataframe for analysis</a:t>
            </a:r>
            <a:endParaRPr lang="en-US" sz="1046" dirty="0"/>
          </a:p>
        </p:txBody>
      </p:sp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id="{BDF48979-6C07-4493-9622-E03A2D7C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37" y="2039846"/>
            <a:ext cx="175343" cy="200393"/>
          </a:xfrm>
          <a:prstGeom prst="rect">
            <a:avLst/>
          </a:prstGeom>
        </p:spPr>
      </p:pic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8E7AE2E5-2B40-4B0B-A5C2-F5AAAF5A1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37" y="2530392"/>
            <a:ext cx="175343" cy="200393"/>
          </a:xfrm>
          <a:prstGeom prst="rect">
            <a:avLst/>
          </a:prstGeom>
        </p:spPr>
      </p:pic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5971403C-E8A8-431F-AF02-A40391FE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37" y="3084579"/>
            <a:ext cx="175343" cy="200393"/>
          </a:xfrm>
          <a:prstGeom prst="rect">
            <a:avLst/>
          </a:prstGeom>
        </p:spPr>
      </p:pic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06A9BF51-F79A-4677-A923-51129ADF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37" y="3793010"/>
            <a:ext cx="175343" cy="200393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24720FA2-AF52-4BF3-8A61-B9042516FC39}"/>
              </a:ext>
            </a:extLst>
          </p:cNvPr>
          <p:cNvSpPr/>
          <p:nvPr/>
        </p:nvSpPr>
        <p:spPr>
          <a:xfrm>
            <a:off x="8740588" y="4859315"/>
            <a:ext cx="207346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37940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0136E85-5F39-4768-A429-2F4E431E9F70}"/>
              </a:ext>
            </a:extLst>
          </p:cNvPr>
          <p:cNvSpPr/>
          <p:nvPr/>
        </p:nvSpPr>
        <p:spPr>
          <a:xfrm>
            <a:off x="139351" y="326474"/>
            <a:ext cx="368451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Questions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1E6190-9367-4A83-A92F-BC10B2DEE08A}"/>
              </a:ext>
            </a:extLst>
          </p:cNvPr>
          <p:cNvGrpSpPr/>
          <p:nvPr/>
        </p:nvGrpSpPr>
        <p:grpSpPr>
          <a:xfrm>
            <a:off x="510988" y="838055"/>
            <a:ext cx="4045165" cy="410136"/>
            <a:chOff x="510988" y="838055"/>
            <a:chExt cx="4045165" cy="41013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DFD45E1-C25F-491D-B34D-ABEDD56674D9}"/>
                </a:ext>
              </a:extLst>
            </p:cNvPr>
            <p:cNvGrpSpPr/>
            <p:nvPr/>
          </p:nvGrpSpPr>
          <p:grpSpPr>
            <a:xfrm>
              <a:off x="616721" y="878859"/>
              <a:ext cx="3939432" cy="369332"/>
              <a:chOff x="616721" y="878859"/>
              <a:chExt cx="3939432" cy="369332"/>
            </a:xfrm>
          </p:grpSpPr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EC01803F-211D-488F-8804-7969CE322475}"/>
                  </a:ext>
                </a:extLst>
              </p:cNvPr>
              <p:cNvSpPr/>
              <p:nvPr/>
            </p:nvSpPr>
            <p:spPr>
              <a:xfrm>
                <a:off x="1090268" y="952983"/>
                <a:ext cx="3465885" cy="24622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indent="0">
                  <a:buNone/>
                </a:pPr>
                <a:r>
                  <a:rPr lang="en-US" sz="1046" dirty="0">
                    <a:solidFill>
                      <a:srgbClr val="333333"/>
                    </a:solidFill>
                    <a:latin typeface="Noto Sans" pitchFamily="34" charset="0"/>
                    <a:ea typeface="Noto Sans" pitchFamily="34" charset="-122"/>
                    <a:cs typeface="Noto Sans" pitchFamily="34" charset="-120"/>
                  </a:rPr>
                  <a:t> </a:t>
                </a:r>
                <a:r>
                  <a:rPr lang="en-US" sz="1600" dirty="0">
                    <a:solidFill>
                      <a:srgbClr val="333333"/>
                    </a:solidFill>
                    <a:latin typeface="Noto Sans" pitchFamily="34" charset="0"/>
                    <a:ea typeface="Noto Sans" pitchFamily="34" charset="-122"/>
                    <a:cs typeface="Noto Sans" pitchFamily="34" charset="-120"/>
                  </a:rPr>
                  <a:t>Total expected revenue vs actual revenue</a:t>
                </a:r>
                <a:endParaRPr lang="en-US" sz="1600" dirty="0"/>
              </a:p>
            </p:txBody>
          </p:sp>
          <p:pic>
            <p:nvPicPr>
              <p:cNvPr id="4" name="Image 1" descr="preencoded.png">
                <a:extLst>
                  <a:ext uri="{FF2B5EF4-FFF2-40B4-BE49-F238E27FC236}">
                    <a16:creationId xmlns:a16="http://schemas.microsoft.com/office/drawing/2014/main" id="{9F425CA6-F722-4368-9A88-2D4A49158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6721" y="878859"/>
                <a:ext cx="369332" cy="369332"/>
              </a:xfrm>
              <a:prstGeom prst="rect">
                <a:avLst/>
              </a:prstGeom>
            </p:spPr>
          </p:pic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8B2018-0BA4-40E1-923E-DFB09A93963B}"/>
                </a:ext>
              </a:extLst>
            </p:cNvPr>
            <p:cNvCxnSpPr>
              <a:cxnSpLocks/>
            </p:cNvCxnSpPr>
            <p:nvPr/>
          </p:nvCxnSpPr>
          <p:spPr>
            <a:xfrm>
              <a:off x="510988" y="838055"/>
              <a:ext cx="0" cy="41013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6FB24E-0489-44A9-92D5-F6A2F1860E90}"/>
              </a:ext>
            </a:extLst>
          </p:cNvPr>
          <p:cNvGrpSpPr/>
          <p:nvPr/>
        </p:nvGrpSpPr>
        <p:grpSpPr>
          <a:xfrm>
            <a:off x="505714" y="2270584"/>
            <a:ext cx="3264502" cy="410136"/>
            <a:chOff x="510988" y="1514890"/>
            <a:chExt cx="3264502" cy="41013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13AF7B-DC46-481F-8D67-B7DA7450A16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88" y="1514890"/>
              <a:ext cx="0" cy="41013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E3C333C-38F1-499C-AC6E-ED699159A635}"/>
                </a:ext>
              </a:extLst>
            </p:cNvPr>
            <p:cNvGrpSpPr/>
            <p:nvPr/>
          </p:nvGrpSpPr>
          <p:grpSpPr>
            <a:xfrm>
              <a:off x="616721" y="1564790"/>
              <a:ext cx="3158769" cy="339769"/>
              <a:chOff x="616721" y="1550072"/>
              <a:chExt cx="3158769" cy="339769"/>
            </a:xfrm>
          </p:grpSpPr>
          <p:sp>
            <p:nvSpPr>
              <p:cNvPr id="9" name="Text 2">
                <a:extLst>
                  <a:ext uri="{FF2B5EF4-FFF2-40B4-BE49-F238E27FC236}">
                    <a16:creationId xmlns:a16="http://schemas.microsoft.com/office/drawing/2014/main" id="{A2C9340F-20AF-43ED-A0B5-F6C2732F55CC}"/>
                  </a:ext>
                </a:extLst>
              </p:cNvPr>
              <p:cNvSpPr/>
              <p:nvPr/>
            </p:nvSpPr>
            <p:spPr>
              <a:xfrm>
                <a:off x="1090268" y="1596847"/>
                <a:ext cx="2685222" cy="24622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indent="0">
                  <a:buNone/>
                </a:pPr>
                <a:r>
                  <a:rPr lang="en-US" sz="1046" dirty="0">
                    <a:solidFill>
                      <a:srgbClr val="333333"/>
                    </a:solidFill>
                    <a:latin typeface="Noto Sans" pitchFamily="34" charset="0"/>
                    <a:ea typeface="Noto Sans" pitchFamily="34" charset="-122"/>
                    <a:cs typeface="Noto Sans" pitchFamily="34" charset="-120"/>
                  </a:rPr>
                  <a:t> </a:t>
                </a:r>
                <a:r>
                  <a:rPr lang="en-US" sz="1600" dirty="0">
                    <a:solidFill>
                      <a:srgbClr val="333333"/>
                    </a:solidFill>
                    <a:latin typeface="Noto Sans" pitchFamily="34" charset="0"/>
                    <a:ea typeface="Noto Sans" pitchFamily="34" charset="-122"/>
                    <a:cs typeface="Noto Sans" pitchFamily="34" charset="-120"/>
                  </a:rPr>
                  <a:t>Most common reasons for visits</a:t>
                </a:r>
                <a:endParaRPr lang="en-US" sz="1600" dirty="0"/>
              </a:p>
            </p:txBody>
          </p:sp>
          <p:pic>
            <p:nvPicPr>
              <p:cNvPr id="10" name="Image 2" descr="preencoded.png">
                <a:extLst>
                  <a:ext uri="{FF2B5EF4-FFF2-40B4-BE49-F238E27FC236}">
                    <a16:creationId xmlns:a16="http://schemas.microsoft.com/office/drawing/2014/main" id="{874A6E09-7B4B-453B-97F3-96272F709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721" y="1550072"/>
                <a:ext cx="297299" cy="339769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E379F8-4F85-469E-8606-D981F2A93243}"/>
              </a:ext>
            </a:extLst>
          </p:cNvPr>
          <p:cNvGrpSpPr/>
          <p:nvPr/>
        </p:nvGrpSpPr>
        <p:grpSpPr>
          <a:xfrm>
            <a:off x="616721" y="1592277"/>
            <a:ext cx="2955188" cy="334962"/>
            <a:chOff x="616721" y="1497780"/>
            <a:chExt cx="2955188" cy="334962"/>
          </a:xfrm>
        </p:grpSpPr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D2F7897D-69CD-4CF3-AC74-EF962C399E0B}"/>
                </a:ext>
              </a:extLst>
            </p:cNvPr>
            <p:cNvSpPr/>
            <p:nvPr/>
          </p:nvSpPr>
          <p:spPr>
            <a:xfrm>
              <a:off x="1090268" y="1545293"/>
              <a:ext cx="2481641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Branch revenue performance</a:t>
              </a:r>
              <a:endParaRPr lang="en-US" sz="1600" dirty="0"/>
            </a:p>
          </p:txBody>
        </p:sp>
        <p:pic>
          <p:nvPicPr>
            <p:cNvPr id="18" name="Image 8" descr="preencoded.png">
              <a:extLst>
                <a:ext uri="{FF2B5EF4-FFF2-40B4-BE49-F238E27FC236}">
                  <a16:creationId xmlns:a16="http://schemas.microsoft.com/office/drawing/2014/main" id="{73FB4023-2073-4E76-A18A-D8317ED5A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721" y="1497780"/>
              <a:ext cx="418703" cy="33496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8C9A21-5BD1-4C3D-9678-956B0A8CB192}"/>
              </a:ext>
            </a:extLst>
          </p:cNvPr>
          <p:cNvGrpSpPr/>
          <p:nvPr/>
        </p:nvGrpSpPr>
        <p:grpSpPr>
          <a:xfrm>
            <a:off x="5280343" y="890002"/>
            <a:ext cx="3452632" cy="372182"/>
            <a:chOff x="616721" y="2150563"/>
            <a:chExt cx="3452632" cy="372182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967CE8D4-923C-469E-9A24-E562A3780835}"/>
                </a:ext>
              </a:extLst>
            </p:cNvPr>
            <p:cNvSpPr/>
            <p:nvPr/>
          </p:nvSpPr>
          <p:spPr>
            <a:xfrm>
              <a:off x="1090268" y="2214934"/>
              <a:ext cx="2979085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Payment patterns (status, method)</a:t>
              </a:r>
              <a:endParaRPr lang="en-US" sz="1600" dirty="0"/>
            </a:p>
          </p:txBody>
        </p:sp>
        <p:pic>
          <p:nvPicPr>
            <p:cNvPr id="19" name="Image 3" descr="preencoded.png">
              <a:extLst>
                <a:ext uri="{FF2B5EF4-FFF2-40B4-BE49-F238E27FC236}">
                  <a16:creationId xmlns:a16="http://schemas.microsoft.com/office/drawing/2014/main" id="{A7A1CAFE-884A-4F47-93DE-D9697F63D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721" y="2150563"/>
              <a:ext cx="418703" cy="37218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E56ACC-317A-4170-A4BA-336F17943DE0}"/>
              </a:ext>
            </a:extLst>
          </p:cNvPr>
          <p:cNvGrpSpPr/>
          <p:nvPr/>
        </p:nvGrpSpPr>
        <p:grpSpPr>
          <a:xfrm>
            <a:off x="5298109" y="2978354"/>
            <a:ext cx="3225006" cy="372182"/>
            <a:chOff x="616721" y="2774328"/>
            <a:chExt cx="3225006" cy="372182"/>
          </a:xfrm>
        </p:grpSpPr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6BD37AC1-8B91-4697-A177-9C43861E7D99}"/>
                </a:ext>
              </a:extLst>
            </p:cNvPr>
            <p:cNvSpPr/>
            <p:nvPr/>
          </p:nvSpPr>
          <p:spPr>
            <a:xfrm>
              <a:off x="1090268" y="2807244"/>
              <a:ext cx="2751459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Insurance provider contributions</a:t>
              </a:r>
              <a:endParaRPr lang="en-US" sz="1600" dirty="0"/>
            </a:p>
          </p:txBody>
        </p:sp>
        <p:pic>
          <p:nvPicPr>
            <p:cNvPr id="20" name="Image 4" descr="preencoded.png">
              <a:extLst>
                <a:ext uri="{FF2B5EF4-FFF2-40B4-BE49-F238E27FC236}">
                  <a16:creationId xmlns:a16="http://schemas.microsoft.com/office/drawing/2014/main" id="{B55608C5-38F2-44C3-8806-DC023E246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6721" y="2774328"/>
              <a:ext cx="369332" cy="372182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227436-D0BB-40C6-A3B9-981CCC5BA4E5}"/>
              </a:ext>
            </a:extLst>
          </p:cNvPr>
          <p:cNvGrpSpPr/>
          <p:nvPr/>
        </p:nvGrpSpPr>
        <p:grpSpPr>
          <a:xfrm>
            <a:off x="620885" y="2933202"/>
            <a:ext cx="4046762" cy="417334"/>
            <a:chOff x="620885" y="2933202"/>
            <a:chExt cx="4046762" cy="417334"/>
          </a:xfrm>
        </p:grpSpPr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05B80378-2B33-4D93-A24F-51C86D05E11C}"/>
                </a:ext>
              </a:extLst>
            </p:cNvPr>
            <p:cNvSpPr/>
            <p:nvPr/>
          </p:nvSpPr>
          <p:spPr>
            <a:xfrm>
              <a:off x="1022162" y="3071399"/>
              <a:ext cx="3645485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Monthly appointments and revenue trends</a:t>
              </a:r>
              <a:endParaRPr lang="en-US" sz="1600" dirty="0"/>
            </a:p>
          </p:txBody>
        </p:sp>
        <p:pic>
          <p:nvPicPr>
            <p:cNvPr id="25" name="Image 6" descr="preencoded.png">
              <a:extLst>
                <a:ext uri="{FF2B5EF4-FFF2-40B4-BE49-F238E27FC236}">
                  <a16:creationId xmlns:a16="http://schemas.microsoft.com/office/drawing/2014/main" id="{A6BF9B2C-A9BE-4EF3-B3A1-DF4C9842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0885" y="2933202"/>
              <a:ext cx="365168" cy="417334"/>
            </a:xfrm>
            <a:prstGeom prst="rect">
              <a:avLst/>
            </a:prstGeom>
          </p:spPr>
        </p:pic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B638A3-6AA4-472C-905E-9327481129F0}"/>
              </a:ext>
            </a:extLst>
          </p:cNvPr>
          <p:cNvCxnSpPr>
            <a:cxnSpLocks/>
          </p:cNvCxnSpPr>
          <p:nvPr/>
        </p:nvCxnSpPr>
        <p:spPr>
          <a:xfrm>
            <a:off x="498199" y="2929312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CA8E5C-29B3-4E65-9807-F144A620D230}"/>
              </a:ext>
            </a:extLst>
          </p:cNvPr>
          <p:cNvCxnSpPr>
            <a:cxnSpLocks/>
          </p:cNvCxnSpPr>
          <p:nvPr/>
        </p:nvCxnSpPr>
        <p:spPr>
          <a:xfrm>
            <a:off x="510988" y="1517103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3FD258-5293-4730-8428-876F8C91227F}"/>
              </a:ext>
            </a:extLst>
          </p:cNvPr>
          <p:cNvCxnSpPr>
            <a:cxnSpLocks/>
          </p:cNvCxnSpPr>
          <p:nvPr/>
        </p:nvCxnSpPr>
        <p:spPr>
          <a:xfrm>
            <a:off x="5176326" y="852048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E271AA-E618-47CB-9611-442E82AF5F1A}"/>
              </a:ext>
            </a:extLst>
          </p:cNvPr>
          <p:cNvCxnSpPr>
            <a:cxnSpLocks/>
          </p:cNvCxnSpPr>
          <p:nvPr/>
        </p:nvCxnSpPr>
        <p:spPr>
          <a:xfrm>
            <a:off x="5176326" y="2940400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F250BD-0588-49F5-A9D2-F3E9A28DC5E9}"/>
              </a:ext>
            </a:extLst>
          </p:cNvPr>
          <p:cNvCxnSpPr>
            <a:cxnSpLocks/>
          </p:cNvCxnSpPr>
          <p:nvPr/>
        </p:nvCxnSpPr>
        <p:spPr>
          <a:xfrm>
            <a:off x="5178041" y="1498126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1F2029-B241-47E6-AAFF-5FEE253B46E0}"/>
              </a:ext>
            </a:extLst>
          </p:cNvPr>
          <p:cNvCxnSpPr>
            <a:cxnSpLocks/>
          </p:cNvCxnSpPr>
          <p:nvPr/>
        </p:nvCxnSpPr>
        <p:spPr>
          <a:xfrm>
            <a:off x="5183974" y="2181514"/>
            <a:ext cx="0" cy="4101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 5">
            <a:extLst>
              <a:ext uri="{FF2B5EF4-FFF2-40B4-BE49-F238E27FC236}">
                <a16:creationId xmlns:a16="http://schemas.microsoft.com/office/drawing/2014/main" id="{3098DF72-78EA-402C-9393-2689D4A54F7D}"/>
              </a:ext>
            </a:extLst>
          </p:cNvPr>
          <p:cNvSpPr/>
          <p:nvPr/>
        </p:nvSpPr>
        <p:spPr>
          <a:xfrm>
            <a:off x="5771656" y="1592277"/>
            <a:ext cx="2329548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Treatment revenue analysis</a:t>
            </a:r>
            <a:endParaRPr lang="en-US" sz="160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55B8DF92-7112-47E5-8168-EC70200A18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897" y="1517103"/>
            <a:ext cx="465228" cy="372182"/>
          </a:xfrm>
          <a:prstGeom prst="rect">
            <a:avLst/>
          </a:prstGeom>
        </p:spPr>
      </p:pic>
      <p:sp>
        <p:nvSpPr>
          <p:cNvPr id="35" name="Text 7">
            <a:extLst>
              <a:ext uri="{FF2B5EF4-FFF2-40B4-BE49-F238E27FC236}">
                <a16:creationId xmlns:a16="http://schemas.microsoft.com/office/drawing/2014/main" id="{41DB7690-A758-4D41-BC7F-E966648ED2AE}"/>
              </a:ext>
            </a:extLst>
          </p:cNvPr>
          <p:cNvSpPr/>
          <p:nvPr/>
        </p:nvSpPr>
        <p:spPr>
          <a:xfrm>
            <a:off x="5771656" y="2321473"/>
            <a:ext cx="150265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billing doctor</a:t>
            </a:r>
            <a:endParaRPr lang="en-US" sz="1600" dirty="0"/>
          </a:p>
        </p:txBody>
      </p:sp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E9695EDF-F2D8-4710-BE25-4EBEFB1EE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890" y="2189338"/>
            <a:ext cx="357623" cy="408711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7E350EDE-7646-43DD-9000-5F80B72E2649}"/>
              </a:ext>
            </a:extLst>
          </p:cNvPr>
          <p:cNvSpPr/>
          <p:nvPr/>
        </p:nvSpPr>
        <p:spPr>
          <a:xfrm>
            <a:off x="8666629" y="4897860"/>
            <a:ext cx="248771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64213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35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Analysis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42900" y="957263"/>
            <a:ext cx="4000500" cy="19431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1169789"/>
            <a:ext cx="13111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Revenue: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862705" y="1139428"/>
            <a:ext cx="9803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$551,249.85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14350" y="1541264"/>
            <a:ext cx="14013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Actualized Revenue: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952839" y="1510903"/>
            <a:ext cx="9803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$173,424.90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4350" y="1912739"/>
            <a:ext cx="9541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Gap: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1505657" y="1882378"/>
            <a:ext cx="9803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$377,824.95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4350" y="2299157"/>
            <a:ext cx="365760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Significant gap between potential and realized revenue (68.5% unrealized)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2900" y="3128963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Observations: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514350" y="3442723"/>
            <a:ext cx="265777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Only 31.5% of expected revenue was actualized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14350" y="3742760"/>
            <a:ext cx="273792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Indicates major challenges in payment collection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4350" y="4042798"/>
            <a:ext cx="214962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Potential issues with billing processes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4350" y="4342835"/>
            <a:ext cx="277319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Opportunity for significant financial improvement</a:t>
            </a:r>
            <a:endParaRPr lang="en-US" sz="1400" dirty="0">
              <a:latin typeface="Agency FB" panose="020B0503020202020204" pitchFamily="34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57263"/>
            <a:ext cx="4229100" cy="2857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58166" y="5097885"/>
            <a:ext cx="9618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 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P\AppData\Local\Microsoft\Windows\INetCache\Content.MSO\E76E48A6.tmp">
            <a:extLst>
              <a:ext uri="{FF2B5EF4-FFF2-40B4-BE49-F238E27FC236}">
                <a16:creationId xmlns:a16="http://schemas.microsoft.com/office/drawing/2014/main" id="{B2657A09-D43D-4F72-B343-906465FB75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46" y="280962"/>
            <a:ext cx="4147783" cy="248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C:\Users\HP\AppData\Local\Microsoft\Windows\INetCache\Content.MSO\126CD930.tmp">
            <a:extLst>
              <a:ext uri="{FF2B5EF4-FFF2-40B4-BE49-F238E27FC236}">
                <a16:creationId xmlns:a16="http://schemas.microsoft.com/office/drawing/2014/main" id="{80022928-3666-49F8-A9CD-83C2AF2BD6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29" y="293147"/>
            <a:ext cx="4618074" cy="227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HP\AppData\Local\Microsoft\Windows\INetCache\Content.MSO\1A8206BE.tmp">
            <a:extLst>
              <a:ext uri="{FF2B5EF4-FFF2-40B4-BE49-F238E27FC236}">
                <a16:creationId xmlns:a16="http://schemas.microsoft.com/office/drawing/2014/main" id="{AA13B7A7-4CDE-4AD3-A18E-7A0A6BF5DFC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448" y="2927757"/>
            <a:ext cx="546989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D03C99D-967B-4084-A020-952842E85B45}"/>
              </a:ext>
            </a:extLst>
          </p:cNvPr>
          <p:cNvSpPr/>
          <p:nvPr/>
        </p:nvSpPr>
        <p:spPr>
          <a:xfrm>
            <a:off x="322729" y="128761"/>
            <a:ext cx="279026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Appointments by Month</a:t>
            </a:r>
            <a:endParaRPr lang="en-US" sz="13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5D14BBA-D429-40D1-83C2-946B5802E98E}"/>
              </a:ext>
            </a:extLst>
          </p:cNvPr>
          <p:cNvSpPr/>
          <p:nvPr/>
        </p:nvSpPr>
        <p:spPr>
          <a:xfrm>
            <a:off x="6632266" y="128761"/>
            <a:ext cx="279026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Expected Revenue by Month</a:t>
            </a:r>
            <a:endParaRPr lang="en-US" sz="13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2606F1D-62D7-45DD-B2C9-811480161363}"/>
              </a:ext>
            </a:extLst>
          </p:cNvPr>
          <p:cNvSpPr/>
          <p:nvPr/>
        </p:nvSpPr>
        <p:spPr>
          <a:xfrm>
            <a:off x="6829574" y="4661348"/>
            <a:ext cx="279026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Actual Revenue by Month</a:t>
            </a:r>
            <a:endParaRPr lang="en-US" sz="1350" dirty="0"/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96EA7D6D-EEC2-49D8-B93D-22FD75C42996}"/>
              </a:ext>
            </a:extLst>
          </p:cNvPr>
          <p:cNvSpPr/>
          <p:nvPr/>
        </p:nvSpPr>
        <p:spPr>
          <a:xfrm>
            <a:off x="8800960" y="4970993"/>
            <a:ext cx="9618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81985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0607241-57F3-4CE1-8E67-242F0D4CF2E9}"/>
              </a:ext>
            </a:extLst>
          </p:cNvPr>
          <p:cNvSpPr/>
          <p:nvPr/>
        </p:nvSpPr>
        <p:spPr>
          <a:xfrm>
            <a:off x="342900" y="379969"/>
            <a:ext cx="3866029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Revenue Performance</a:t>
            </a:r>
            <a:endParaRPr lang="en-US" sz="2025" dirty="0"/>
          </a:p>
        </p:txBody>
      </p:sp>
      <p:pic>
        <p:nvPicPr>
          <p:cNvPr id="4" name="Picture 3" descr="C:\Users\HP\AppData\Local\Microsoft\Windows\INetCache\Content.MSO\FC2410EA.tmp">
            <a:extLst>
              <a:ext uri="{FF2B5EF4-FFF2-40B4-BE49-F238E27FC236}">
                <a16:creationId xmlns:a16="http://schemas.microsoft.com/office/drawing/2014/main" id="{2D6821D9-4E0D-4A66-A9C2-B5CA85D6C0D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" y="863694"/>
            <a:ext cx="4128247" cy="209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C3FF4A2-E247-490F-A86C-51219F976910}"/>
              </a:ext>
            </a:extLst>
          </p:cNvPr>
          <p:cNvGrpSpPr/>
          <p:nvPr/>
        </p:nvGrpSpPr>
        <p:grpSpPr>
          <a:xfrm>
            <a:off x="342900" y="3131295"/>
            <a:ext cx="3834383" cy="433282"/>
            <a:chOff x="342900" y="4012899"/>
            <a:chExt cx="3834383" cy="433282"/>
          </a:xfrm>
        </p:grpSpPr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C5E33BB4-7A65-4C04-A1CD-260D3DB83153}"/>
                </a:ext>
              </a:extLst>
            </p:cNvPr>
            <p:cNvSpPr/>
            <p:nvPr/>
          </p:nvSpPr>
          <p:spPr>
            <a:xfrm>
              <a:off x="342900" y="4012899"/>
              <a:ext cx="681277" cy="1609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b="1" dirty="0">
                  <a:solidFill>
                    <a:srgbClr val="2563EB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Key Finding:</a:t>
              </a:r>
              <a:endParaRPr lang="en-US" sz="1046" dirty="0"/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5BB843E2-B764-4566-8B7E-C9834D8E05C8}"/>
                </a:ext>
              </a:extLst>
            </p:cNvPr>
            <p:cNvSpPr/>
            <p:nvPr/>
          </p:nvSpPr>
          <p:spPr>
            <a:xfrm>
              <a:off x="342900" y="4169182"/>
              <a:ext cx="3834383" cy="2769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333333"/>
                  </a:solidFill>
                  <a:latin typeface="Agency FB" panose="020B0503020202020204" pitchFamily="34" charset="0"/>
                  <a:ea typeface="Noto Sans" pitchFamily="34" charset="-122"/>
                  <a:cs typeface="Noto Sans" pitchFamily="34" charset="-120"/>
                </a:rPr>
                <a:t>Central Hospital branch generated the most revenue</a:t>
              </a:r>
              <a:endParaRPr lang="en-US" dirty="0">
                <a:latin typeface="Agency FB" panose="020B0503020202020204" pitchFamily="34" charset="0"/>
              </a:endParaRPr>
            </a:p>
          </p:txBody>
        </p: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0F4DDA03-3A8E-4D82-A550-7EB031AC4CBF}"/>
              </a:ext>
            </a:extLst>
          </p:cNvPr>
          <p:cNvSpPr/>
          <p:nvPr/>
        </p:nvSpPr>
        <p:spPr>
          <a:xfrm>
            <a:off x="4811806" y="387903"/>
            <a:ext cx="3866029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Treatment Type</a:t>
            </a:r>
            <a:endParaRPr lang="en-US" sz="2025" dirty="0"/>
          </a:p>
        </p:txBody>
      </p:sp>
      <p:pic>
        <p:nvPicPr>
          <p:cNvPr id="10" name="Picture 9" descr="C:\Users\HP\AppData\Local\Microsoft\Windows\INetCache\Content.MSO\BCAD94D8.tmp">
            <a:extLst>
              <a:ext uri="{FF2B5EF4-FFF2-40B4-BE49-F238E27FC236}">
                <a16:creationId xmlns:a16="http://schemas.microsoft.com/office/drawing/2014/main" id="{C8CC4B63-C150-4FA8-94A0-F0C0FCE8B4C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160" y="821784"/>
            <a:ext cx="4130675" cy="2179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94930BE-816C-4578-80D3-24A306A919D4}"/>
              </a:ext>
            </a:extLst>
          </p:cNvPr>
          <p:cNvGrpSpPr/>
          <p:nvPr/>
        </p:nvGrpSpPr>
        <p:grpSpPr>
          <a:xfrm>
            <a:off x="4982136" y="3093421"/>
            <a:ext cx="4229100" cy="460824"/>
            <a:chOff x="4572000" y="3586163"/>
            <a:chExt cx="4229100" cy="460824"/>
          </a:xfrm>
        </p:grpSpPr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F7B3928A-A866-46E4-ABDE-FC1B8F34935B}"/>
                </a:ext>
              </a:extLst>
            </p:cNvPr>
            <p:cNvSpPr/>
            <p:nvPr/>
          </p:nvSpPr>
          <p:spPr>
            <a:xfrm>
              <a:off x="4572000" y="3586163"/>
              <a:ext cx="4229100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b="1" dirty="0">
                  <a:solidFill>
                    <a:srgbClr val="2563EB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Key Finding:</a:t>
              </a:r>
              <a:endParaRPr lang="en-US" sz="1046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3FD144B6-6145-4519-8C24-966749B96B24}"/>
                </a:ext>
              </a:extLst>
            </p:cNvPr>
            <p:cNvSpPr/>
            <p:nvPr/>
          </p:nvSpPr>
          <p:spPr>
            <a:xfrm>
              <a:off x="4572000" y="3769988"/>
              <a:ext cx="3165931" cy="2769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333333"/>
                  </a:solidFill>
                  <a:latin typeface="Agency FB" panose="020B0503020202020204" pitchFamily="34" charset="0"/>
                  <a:ea typeface="Noto Sans" pitchFamily="34" charset="-122"/>
                  <a:cs typeface="Noto Sans" pitchFamily="34" charset="-120"/>
                </a:rPr>
                <a:t>Chemotherapy generated the most revenue</a:t>
              </a:r>
              <a:endParaRPr lang="en-US" dirty="0">
                <a:latin typeface="Agency FB" panose="020B0503020202020204" pitchFamily="34" charset="0"/>
              </a:endParaRPr>
            </a:p>
          </p:txBody>
        </p:sp>
      </p:grpSp>
      <p:sp>
        <p:nvSpPr>
          <p:cNvPr id="14" name="Text 25">
            <a:extLst>
              <a:ext uri="{FF2B5EF4-FFF2-40B4-BE49-F238E27FC236}">
                <a16:creationId xmlns:a16="http://schemas.microsoft.com/office/drawing/2014/main" id="{6253280C-18BB-46D6-97DE-59C46850A132}"/>
              </a:ext>
            </a:extLst>
          </p:cNvPr>
          <p:cNvSpPr/>
          <p:nvPr/>
        </p:nvSpPr>
        <p:spPr>
          <a:xfrm>
            <a:off x="8728825" y="4886935"/>
            <a:ext cx="8976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7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109575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86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Reasons &amp; Payment Status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572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Visit Reasons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57200" y="3557855"/>
            <a:ext cx="272831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Most visits were for routine checkups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" y="3925728"/>
            <a:ext cx="2351606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Few emergency cases recorded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7326" y="4332922"/>
            <a:ext cx="290143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Preventive care dominates patient visits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0" y="9572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Status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04043" y="3583472"/>
            <a:ext cx="263213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Most payments are pending (34.5%)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604043" y="4010556"/>
            <a:ext cx="3310202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Significant number of payments failed (33.5%)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604043" y="4348876"/>
            <a:ext cx="2386872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Few successful payments (32%)</a:t>
            </a:r>
            <a:endParaRPr lang="en-US" sz="1600" dirty="0">
              <a:latin typeface="Agency FB" panose="020B0503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858166" y="5622131"/>
            <a:ext cx="57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 </a:t>
            </a:r>
            <a:endParaRPr lang="en-US" sz="732" dirty="0"/>
          </a:p>
        </p:txBody>
      </p:sp>
      <p:pic>
        <p:nvPicPr>
          <p:cNvPr id="17" name="Picture 16" descr="C:\Users\HP\AppData\Local\Microsoft\Windows\INetCache\Content.MSO\501278F4.tmp">
            <a:extLst>
              <a:ext uri="{FF2B5EF4-FFF2-40B4-BE49-F238E27FC236}">
                <a16:creationId xmlns:a16="http://schemas.microsoft.com/office/drawing/2014/main" id="{49922952-91D6-4AC9-A135-523D29D833E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22" y="1241743"/>
            <a:ext cx="3695700" cy="203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 descr="C:\Users\HP\AppData\Local\Microsoft\Windows\INetCache\Content.MSO\E122EF22.tmp">
            <a:extLst>
              <a:ext uri="{FF2B5EF4-FFF2-40B4-BE49-F238E27FC236}">
                <a16:creationId xmlns:a16="http://schemas.microsoft.com/office/drawing/2014/main" id="{91519D6B-B2B9-4EC5-863C-582252EFB1F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141" y="1195864"/>
            <a:ext cx="2632894" cy="2075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 25">
            <a:extLst>
              <a:ext uri="{FF2B5EF4-FFF2-40B4-BE49-F238E27FC236}">
                <a16:creationId xmlns:a16="http://schemas.microsoft.com/office/drawing/2014/main" id="{2E2C073D-D461-4FD5-B96F-1FC2E0D20841}"/>
              </a:ext>
            </a:extLst>
          </p:cNvPr>
          <p:cNvSpPr/>
          <p:nvPr/>
        </p:nvSpPr>
        <p:spPr>
          <a:xfrm>
            <a:off x="8800960" y="5055023"/>
            <a:ext cx="9618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 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0136E85-5F39-4768-A429-2F4E431E9F70}"/>
              </a:ext>
            </a:extLst>
          </p:cNvPr>
          <p:cNvSpPr/>
          <p:nvPr/>
        </p:nvSpPr>
        <p:spPr>
          <a:xfrm>
            <a:off x="199141" y="426203"/>
            <a:ext cx="410209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vs Payment Status</a:t>
            </a:r>
            <a:endParaRPr lang="en-US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B8925F21-9ED5-4A7A-8302-D8EB81585B87}"/>
              </a:ext>
            </a:extLst>
          </p:cNvPr>
          <p:cNvSpPr/>
          <p:nvPr/>
        </p:nvSpPr>
        <p:spPr>
          <a:xfrm>
            <a:off x="342900" y="3850912"/>
            <a:ext cx="349775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Credit card payments were the most successful</a:t>
            </a:r>
            <a:endParaRPr lang="en-US" dirty="0">
              <a:latin typeface="Agency FB" panose="020B0503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0348F9-514F-437A-B10F-C9F5F2419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27" y="836241"/>
            <a:ext cx="4102092" cy="261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33B058B-2ECD-4779-8E7E-0D567070EA3A}"/>
              </a:ext>
            </a:extLst>
          </p:cNvPr>
          <p:cNvSpPr/>
          <p:nvPr/>
        </p:nvSpPr>
        <p:spPr>
          <a:xfrm>
            <a:off x="5098566" y="426203"/>
            <a:ext cx="364202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Insurance Provider</a:t>
            </a:r>
            <a:endParaRPr lang="en-US" dirty="0"/>
          </a:p>
        </p:txBody>
      </p:sp>
      <p:pic>
        <p:nvPicPr>
          <p:cNvPr id="8" name="Picture 7" descr="C:\Users\HP\AppData\Local\Microsoft\Windows\INetCache\Content.MSO\BB277CBA.tmp">
            <a:extLst>
              <a:ext uri="{FF2B5EF4-FFF2-40B4-BE49-F238E27FC236}">
                <a16:creationId xmlns:a16="http://schemas.microsoft.com/office/drawing/2014/main" id="{EB53EF63-0022-4564-80F4-8B0E9190FF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588" y="950541"/>
            <a:ext cx="3025588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1958BAB3-68E5-4886-B971-CDF8E8032514}"/>
              </a:ext>
            </a:extLst>
          </p:cNvPr>
          <p:cNvSpPr/>
          <p:nvPr/>
        </p:nvSpPr>
        <p:spPr>
          <a:xfrm>
            <a:off x="342900" y="3586163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Finding:</a:t>
            </a:r>
            <a:endParaRPr lang="en-US" sz="1046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E57442D-8D10-43E7-9C54-04BE21ED200B}"/>
              </a:ext>
            </a:extLst>
          </p:cNvPr>
          <p:cNvSpPr/>
          <p:nvPr/>
        </p:nvSpPr>
        <p:spPr>
          <a:xfrm>
            <a:off x="5098566" y="3586162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Finding:</a:t>
            </a:r>
            <a:endParaRPr lang="en-US" sz="1046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BDFFCD0-8019-4B30-B636-C0D709562FDB}"/>
              </a:ext>
            </a:extLst>
          </p:cNvPr>
          <p:cNvSpPr/>
          <p:nvPr/>
        </p:nvSpPr>
        <p:spPr>
          <a:xfrm>
            <a:off x="5098566" y="3773969"/>
            <a:ext cx="400050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MedCare Plus Insurance contributed over 50% of successful payments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CD3EBEBB-0059-4F11-BB95-59A801E3D100}"/>
              </a:ext>
            </a:extLst>
          </p:cNvPr>
          <p:cNvSpPr/>
          <p:nvPr/>
        </p:nvSpPr>
        <p:spPr>
          <a:xfrm>
            <a:off x="8740588" y="4860041"/>
            <a:ext cx="8976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9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35257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43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Trends &amp; Performance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900113"/>
            <a:ext cx="8458200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3271838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Insights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342899" y="3614738"/>
            <a:ext cx="8135281" cy="385763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42900" y="3614738"/>
            <a:ext cx="28575" cy="385763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736181"/>
            <a:ext cx="125016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7960" y="3709392"/>
            <a:ext cx="10597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Appointments:</a:t>
            </a:r>
            <a:endParaRPr lang="en-US" sz="1046" dirty="0"/>
          </a:p>
        </p:txBody>
      </p:sp>
      <p:sp>
        <p:nvSpPr>
          <p:cNvPr id="10" name="Text 5"/>
          <p:cNvSpPr/>
          <p:nvPr/>
        </p:nvSpPr>
        <p:spPr>
          <a:xfrm>
            <a:off x="1660244" y="3694003"/>
            <a:ext cx="511037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April recorded the highest number of appointments while  September recorded the lowest</a:t>
            </a:r>
            <a:endParaRPr lang="en-US" sz="1200" dirty="0">
              <a:latin typeface="Agency FB" panose="020B0503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42899" y="4114800"/>
            <a:ext cx="8135281" cy="814388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342900" y="4114800"/>
            <a:ext cx="28575" cy="814388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4236244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5820" y="4209455"/>
            <a:ext cx="6545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Revenue:</a:t>
            </a:r>
            <a:endParaRPr lang="en-US" sz="1046" dirty="0"/>
          </a:p>
        </p:txBody>
      </p:sp>
      <p:sp>
        <p:nvSpPr>
          <p:cNvPr id="15" name="Text 9"/>
          <p:cNvSpPr/>
          <p:nvPr/>
        </p:nvSpPr>
        <p:spPr>
          <a:xfrm>
            <a:off x="600075" y="4414273"/>
            <a:ext cx="62728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Expected: </a:t>
            </a: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April is expected to generate the highest revenue and December to generate the lowest revenue</a:t>
            </a:r>
            <a:endParaRPr lang="en-US" sz="1200" dirty="0">
              <a:latin typeface="Agency FB" panose="020B0503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00075" y="4628585"/>
            <a:ext cx="512640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 Actual: </a:t>
            </a:r>
            <a:r>
              <a:rPr lang="en-US" sz="1400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The highest revenue was generated in June while February recorded the lowest</a:t>
            </a:r>
            <a:endParaRPr lang="en-US" sz="1200" dirty="0">
              <a:latin typeface="Agency FB" panose="020B0503020202020204" pitchFamily="34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8858166" y="5479256"/>
            <a:ext cx="57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8 </a:t>
            </a:r>
            <a:endParaRPr lang="en-US" sz="732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0B2F25F-CB05-41B7-880A-FF5D59E616BE}"/>
              </a:ext>
            </a:extLst>
          </p:cNvPr>
          <p:cNvSpPr/>
          <p:nvPr/>
        </p:nvSpPr>
        <p:spPr>
          <a:xfrm>
            <a:off x="8800960" y="5055023"/>
            <a:ext cx="15068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10 </a:t>
            </a:r>
            <a:endParaRPr lang="en-US" sz="73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1">
            <a:extLst>
              <a:ext uri="{FF2B5EF4-FFF2-40B4-BE49-F238E27FC236}">
                <a16:creationId xmlns:a16="http://schemas.microsoft.com/office/drawing/2014/main" id="{A1E31FF6-456B-421B-BB0C-355F13751ABC}"/>
              </a:ext>
            </a:extLst>
          </p:cNvPr>
          <p:cNvSpPr/>
          <p:nvPr/>
        </p:nvSpPr>
        <p:spPr>
          <a:xfrm>
            <a:off x="544605" y="385155"/>
            <a:ext cx="321722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Doctor’s Performance</a:t>
            </a:r>
            <a:endParaRPr lang="en-US" sz="2400" dirty="0"/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82BCB7AD-03B1-4599-B5CA-DDABC410B857}"/>
              </a:ext>
            </a:extLst>
          </p:cNvPr>
          <p:cNvSpPr/>
          <p:nvPr/>
        </p:nvSpPr>
        <p:spPr>
          <a:xfrm>
            <a:off x="517893" y="3364480"/>
            <a:ext cx="45719" cy="945302"/>
          </a:xfrm>
          <a:prstGeom prst="rect">
            <a:avLst/>
          </a:prstGeom>
          <a:solidFill>
            <a:srgbClr val="3498DB"/>
          </a:solidFill>
          <a:ln/>
        </p:spPr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2358DC-D797-4580-BAAB-2A5B86A5BF7C}"/>
              </a:ext>
            </a:extLst>
          </p:cNvPr>
          <p:cNvGrpSpPr/>
          <p:nvPr/>
        </p:nvGrpSpPr>
        <p:grpSpPr>
          <a:xfrm>
            <a:off x="509822" y="3377386"/>
            <a:ext cx="6657459" cy="932396"/>
            <a:chOff x="4537831" y="3614738"/>
            <a:chExt cx="4229100" cy="600075"/>
          </a:xfrm>
        </p:grpSpPr>
        <p:sp>
          <p:nvSpPr>
            <p:cNvPr id="7" name="Shape 12">
              <a:extLst>
                <a:ext uri="{FF2B5EF4-FFF2-40B4-BE49-F238E27FC236}">
                  <a16:creationId xmlns:a16="http://schemas.microsoft.com/office/drawing/2014/main" id="{2B1AD243-8D1E-4CDC-BF59-10ECF6D7BEE2}"/>
                </a:ext>
              </a:extLst>
            </p:cNvPr>
            <p:cNvSpPr/>
            <p:nvPr/>
          </p:nvSpPr>
          <p:spPr>
            <a:xfrm>
              <a:off x="4537831" y="3614738"/>
              <a:ext cx="4229100" cy="600075"/>
            </a:xfrm>
            <a:prstGeom prst="rect">
              <a:avLst/>
            </a:prstGeom>
            <a:solidFill>
              <a:srgbClr val="3498DB">
                <a:alpha val="10000"/>
              </a:srgbClr>
            </a:solidFill>
            <a:ln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EAFF5D60-205B-4A9F-9CCE-C80243694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7725" y="3736181"/>
              <a:ext cx="160734" cy="142875"/>
            </a:xfrm>
            <a:prstGeom prst="rect">
              <a:avLst/>
            </a:prstGeom>
          </p:spPr>
        </p:pic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813E628A-3B9E-49C0-A82A-3CD59808062C}"/>
                </a:ext>
              </a:extLst>
            </p:cNvPr>
            <p:cNvSpPr/>
            <p:nvPr/>
          </p:nvSpPr>
          <p:spPr>
            <a:xfrm>
              <a:off x="4912779" y="3709392"/>
              <a:ext cx="1304181" cy="194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b="1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Top Billing Doctor:</a:t>
              </a:r>
              <a:endParaRPr lang="en-US" sz="1046" dirty="0"/>
            </a:p>
          </p:txBody>
        </p:sp>
        <p:sp>
          <p:nvSpPr>
            <p:cNvPr id="10" name="Text 15">
              <a:extLst>
                <a:ext uri="{FF2B5EF4-FFF2-40B4-BE49-F238E27FC236}">
                  <a16:creationId xmlns:a16="http://schemas.microsoft.com/office/drawing/2014/main" id="{1D9E02CD-C3F0-4F95-9564-4EE9F53220D0}"/>
                </a:ext>
              </a:extLst>
            </p:cNvPr>
            <p:cNvSpPr/>
            <p:nvPr/>
          </p:nvSpPr>
          <p:spPr>
            <a:xfrm>
              <a:off x="5678597" y="3747300"/>
              <a:ext cx="635498" cy="1188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1046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1200" dirty="0">
                  <a:solidFill>
                    <a:srgbClr val="333333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Dr. Sarah Taylor</a:t>
              </a:r>
              <a:endParaRPr lang="en-US" sz="1200" dirty="0"/>
            </a:p>
          </p:txBody>
        </p:sp>
        <p:sp>
          <p:nvSpPr>
            <p:cNvPr id="11" name="Text 16">
              <a:extLst>
                <a:ext uri="{FF2B5EF4-FFF2-40B4-BE49-F238E27FC236}">
                  <a16:creationId xmlns:a16="http://schemas.microsoft.com/office/drawing/2014/main" id="{32897512-8032-4E3B-A55B-0028806DEC1A}"/>
                </a:ext>
              </a:extLst>
            </p:cNvPr>
            <p:cNvSpPr/>
            <p:nvPr/>
          </p:nvSpPr>
          <p:spPr>
            <a:xfrm>
              <a:off x="4829175" y="3932795"/>
              <a:ext cx="1270833" cy="1782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333333"/>
                  </a:solidFill>
                  <a:latin typeface="Agency FB" panose="020B0503020202020204" pitchFamily="34" charset="0"/>
                  <a:ea typeface="Noto Sans" pitchFamily="34" charset="-122"/>
                  <a:cs typeface="Noto Sans" pitchFamily="34" charset="-120"/>
                </a:rPr>
                <a:t>Billed the most for the year</a:t>
              </a:r>
              <a:endParaRPr lang="en-US" dirty="0">
                <a:latin typeface="Agency FB" panose="020B0503020202020204" pitchFamily="34" charset="0"/>
              </a:endParaRPr>
            </a:p>
          </p:txBody>
        </p:sp>
      </p:grpSp>
      <p:pic>
        <p:nvPicPr>
          <p:cNvPr id="12" name="Picture 11" descr="C:\Users\HP\AppData\Local\Microsoft\Windows\INetCache\Content.MSO\C5EC217C.tmp">
            <a:extLst>
              <a:ext uri="{FF2B5EF4-FFF2-40B4-BE49-F238E27FC236}">
                <a16:creationId xmlns:a16="http://schemas.microsoft.com/office/drawing/2014/main" id="{5609E5E0-4AA7-4ED5-B23F-AB19215422B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76" y="700314"/>
            <a:ext cx="6890905" cy="24261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25">
            <a:extLst>
              <a:ext uri="{FF2B5EF4-FFF2-40B4-BE49-F238E27FC236}">
                <a16:creationId xmlns:a16="http://schemas.microsoft.com/office/drawing/2014/main" id="{93B6D6FE-2D1E-4EF5-9DD2-8B5B757AE66F}"/>
              </a:ext>
            </a:extLst>
          </p:cNvPr>
          <p:cNvSpPr/>
          <p:nvPr/>
        </p:nvSpPr>
        <p:spPr>
          <a:xfrm>
            <a:off x="8728825" y="4942363"/>
            <a:ext cx="15068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11 </a:t>
            </a:r>
            <a:endParaRPr lang="en-US" sz="732" dirty="0"/>
          </a:p>
        </p:txBody>
      </p:sp>
    </p:spTree>
    <p:extLst>
      <p:ext uri="{BB962C8B-B14F-4D97-AF65-F5344CB8AC3E}">
        <p14:creationId xmlns:p14="http://schemas.microsoft.com/office/powerpoint/2010/main" val="25538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06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0011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07306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80517"/>
            <a:ext cx="33568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Strong revenue potential vs actual realization gap</a:t>
            </a:r>
            <a:endParaRPr lang="en-US" sz="104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635919"/>
            <a:ext cx="16073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3659" y="1609130"/>
            <a:ext cx="32299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Payment challenges limit financial performance</a:t>
            </a:r>
            <a:endParaRPr lang="en-US" sz="1046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964531"/>
            <a:ext cx="17859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1519" y="1937742"/>
            <a:ext cx="35851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Certain treatments and branches drive most revenue</a:t>
            </a:r>
            <a:endParaRPr lang="en-US" sz="1046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293144"/>
            <a:ext cx="125016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7941" y="2266355"/>
            <a:ext cx="34657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Top doctors contribute disproportionately to billing</a:t>
            </a:r>
            <a:endParaRPr lang="en-US" sz="1046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2700338"/>
            <a:ext cx="2357438" cy="15716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72000" y="9001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15" name="Shape 7"/>
          <p:cNvSpPr/>
          <p:nvPr/>
        </p:nvSpPr>
        <p:spPr>
          <a:xfrm>
            <a:off x="4572000" y="1271588"/>
            <a:ext cx="4229100" cy="528638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6" name="Text 8"/>
          <p:cNvSpPr/>
          <p:nvPr/>
        </p:nvSpPr>
        <p:spPr>
          <a:xfrm>
            <a:off x="4657725" y="1356747"/>
            <a:ext cx="28188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Improve payment processing systems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657725" y="1566119"/>
            <a:ext cx="313868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failures and pending payments to close revenue gap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572000" y="1885950"/>
            <a:ext cx="4229100" cy="528638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19" name="Text 11"/>
          <p:cNvSpPr/>
          <p:nvPr/>
        </p:nvSpPr>
        <p:spPr>
          <a:xfrm>
            <a:off x="4657724" y="1971110"/>
            <a:ext cx="24288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Strengthen insurance partnerships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657725" y="2180482"/>
            <a:ext cx="247984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MedCare Plus and other key providers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4572000" y="2500313"/>
            <a:ext cx="4229100" cy="528638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2" name="Text 14"/>
          <p:cNvSpPr/>
          <p:nvPr/>
        </p:nvSpPr>
        <p:spPr>
          <a:xfrm>
            <a:off x="4657725" y="2585473"/>
            <a:ext cx="233397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Leverage high-performing treatments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657725" y="2794844"/>
            <a:ext cx="278441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 chemotherapy and other profitable services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572000" y="3114675"/>
            <a:ext cx="4229100" cy="528638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4657725" y="3199835"/>
            <a:ext cx="1237518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Support top doctors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657725" y="3409207"/>
            <a:ext cx="258083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Replicate Dr. Sarah Taylor's efficiency across staff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0" y="3729038"/>
            <a:ext cx="4229100" cy="528638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657725" y="3814198"/>
            <a:ext cx="178895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gency FB" panose="020B0503020202020204" pitchFamily="34" charset="0"/>
                <a:ea typeface="Noto Sans" pitchFamily="34" charset="-122"/>
                <a:cs typeface="Noto Sans" pitchFamily="34" charset="-120"/>
              </a:rPr>
              <a:t>Balance branch performance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657725" y="4023569"/>
            <a:ext cx="287739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 Central Hospital best practices to other locations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800960" y="5055023"/>
            <a:ext cx="14427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12 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602</Words>
  <Application>Microsoft Office PowerPoint</Application>
  <PresentationFormat>On-screen Show (16:9)</PresentationFormat>
  <Paragraphs>119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Malgun Gothic</vt:lpstr>
      <vt:lpstr>Agency FB</vt:lpstr>
      <vt:lpstr>Arabic Typesetting</vt:lpstr>
      <vt:lpstr>Arial</vt:lpstr>
      <vt:lpstr>Calibri</vt:lpstr>
      <vt:lpstr>Calibri Light</vt:lpstr>
      <vt:lpstr>Noto Sans</vt:lpstr>
      <vt:lpstr>Wingdings</vt:lpstr>
      <vt:lpstr>Office Theme</vt:lpstr>
      <vt:lpstr>PowerPoint Presentation</vt:lpstr>
      <vt:lpstr>PowerPoint Presentation</vt:lpstr>
      <vt:lpstr>Data Cleaning &amp;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Ashraf Uthman</cp:lastModifiedBy>
  <cp:revision>23</cp:revision>
  <dcterms:created xsi:type="dcterms:W3CDTF">2025-09-14T16:13:23Z</dcterms:created>
  <dcterms:modified xsi:type="dcterms:W3CDTF">2025-09-14T20:02:18Z</dcterms:modified>
</cp:coreProperties>
</file>